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2E3342"/>
                </a:solidFill>
                <a:latin typeface="Consola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2E3342"/>
                </a:solidFill>
                <a:latin typeface="Consolas"/>
              </a:rPr>
              <a:t>PENGANTAR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01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2194560"/>
            <a:ext cx="12191695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788091"/>
                </a:solidFill>
                <a:latin typeface="Consolas"/>
              </a:rPr>
              <a:t>—  5D BIM · CONSTRUCTION MANAGEMENT PROCESS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651760"/>
            <a:ext cx="12191695" cy="1371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5600" b="1">
                <a:solidFill>
                  <a:srgbClr val="2E3342"/>
                </a:solidFill>
                <a:latin typeface="Calibri"/>
              </a:rPr>
              <a:t>Dari Model 3D ke Kurva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8531352" cy="5486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400" b="0">
                <a:solidFill>
                  <a:srgbClr val="788091"/>
                </a:solidFill>
                <a:latin typeface="Calibri"/>
              </a:rPr>
              <a:t>Empat tahap utama membuat estimasi proyek konstruksi: Harga Satuan → RAB → Jadwal → Kurva 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389120"/>
            <a:ext cx="8531352" cy="5486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400" b="0">
                <a:solidFill>
                  <a:srgbClr val="788091"/>
                </a:solidFill>
                <a:latin typeface="Calibri"/>
              </a:rPr>
              <a:t>Setiap tahap diilustrasikan dari nol.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2E3342"/>
                </a:solidFill>
                <a:latin typeface="Calibri"/>
              </a:rPr>
              <a:t>📐  Mengajarkan dari nol     🔄  Alur proses lengkap     📊  Banyak diagram, sedikit kata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2E3342"/>
                </a:solidFill>
                <a:latin typeface="Consolas"/>
              </a:rPr>
              <a:t>MULAI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Setiap slide menjelaskan satu tahap dengan diagram dan contoh konkret.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EBE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4E399F"/>
                </a:solidFill>
                <a:latin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7A65C8"/>
                </a:solidFill>
                <a:latin typeface="Consolas"/>
              </a:rPr>
              <a:t>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02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5 Tahapan dari Gambar 3D Menjadi Estimasi Lengkap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Setiap tahap memakai output dari tahap sebelumnya. Ini peta besar yang akan kita pelajari satu per satu.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2743200"/>
            <a:ext cx="2011680" cy="1097280"/>
          </a:xfrm>
          <a:prstGeom prst="roundRect">
            <a:avLst/>
          </a:prstGeom>
          <a:solidFill>
            <a:srgbClr val="E3EAF8"/>
          </a:solidFill>
          <a:ln w="19050">
            <a:solidFill>
              <a:srgbClr val="4A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447" y="2852928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1">
                <a:solidFill>
                  <a:srgbClr val="2E4EA4"/>
                </a:solidFill>
                <a:latin typeface="Consolas"/>
              </a:rPr>
              <a:t>3D BIM · REVIT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" y="3154680"/>
            <a:ext cx="201168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400" b="1">
                <a:solidFill>
                  <a:srgbClr val="2E3342"/>
                </a:solidFill>
                <a:latin typeface="Calibri"/>
              </a:rPr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3520440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m³, kg, m²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9727" y="2743200"/>
            <a:ext cx="2011680" cy="1097280"/>
          </a:xfrm>
          <a:prstGeom prst="roundRect">
            <a:avLst/>
          </a:prstGeom>
          <a:solidFill>
            <a:srgbClr val="E3EAF8"/>
          </a:solidFill>
          <a:ln w="19050">
            <a:solidFill>
              <a:srgbClr val="4A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49727" y="2852928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1">
                <a:solidFill>
                  <a:srgbClr val="2E4EA4"/>
                </a:solidFill>
                <a:latin typeface="Consolas"/>
              </a:rPr>
              <a:t>TAHAP 1 · AHSP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9727" y="3154680"/>
            <a:ext cx="201168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400" b="1">
                <a:solidFill>
                  <a:srgbClr val="2E3342"/>
                </a:solidFill>
                <a:latin typeface="Calibri"/>
              </a:rPr>
              <a:t>Harga Satuan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9727" y="3520440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Rp / m³, Rp / kg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0007" y="2743200"/>
            <a:ext cx="2011680" cy="1097280"/>
          </a:xfrm>
          <a:prstGeom prst="roundRect">
            <a:avLst/>
          </a:prstGeom>
          <a:solidFill>
            <a:srgbClr val="E0F2F5"/>
          </a:solidFill>
          <a:ln w="19050">
            <a:solidFill>
              <a:srgbClr val="429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90007" y="2852928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1">
                <a:solidFill>
                  <a:srgbClr val="2A6E7C"/>
                </a:solidFill>
                <a:latin typeface="Consolas"/>
              </a:rPr>
              <a:t>TAHAP 2 · RAB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0007" y="3154680"/>
            <a:ext cx="201168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400" b="1">
                <a:solidFill>
                  <a:srgbClr val="2E3342"/>
                </a:solidFill>
                <a:latin typeface="Calibri"/>
              </a:rPr>
              <a:t>Total Biaya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0007" y="3520440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Rp total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0287" y="2743200"/>
            <a:ext cx="2011680" cy="1097280"/>
          </a:xfrm>
          <a:prstGeom prst="roundRect">
            <a:avLst/>
          </a:prstGeom>
          <a:solidFill>
            <a:srgbClr val="FAEFDC"/>
          </a:solidFill>
          <a:ln w="19050">
            <a:solidFill>
              <a:srgbClr val="D89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30287" y="2852928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1">
                <a:solidFill>
                  <a:srgbClr val="88590F"/>
                </a:solidFill>
                <a:latin typeface="Consolas"/>
              </a:rPr>
              <a:t>TAHAP 3 · JADWAL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0287" y="3154680"/>
            <a:ext cx="201168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400" b="1">
                <a:solidFill>
                  <a:srgbClr val="2E3342"/>
                </a:solidFill>
                <a:latin typeface="Calibri"/>
              </a:rPr>
              <a:t>Gantt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0287" y="3520440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minggu × WBS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0567" y="2743200"/>
            <a:ext cx="2011680" cy="1097280"/>
          </a:xfrm>
          <a:prstGeom prst="roundRect">
            <a:avLst/>
          </a:prstGeom>
          <a:solidFill>
            <a:srgbClr val="FAE3DF"/>
          </a:solidFill>
          <a:ln w="19050">
            <a:solidFill>
              <a:srgbClr val="C2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70567" y="2852928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1">
                <a:solidFill>
                  <a:srgbClr val="8F2E26"/>
                </a:solidFill>
                <a:latin typeface="Consolas"/>
              </a:rPr>
              <a:t>TAHAP 4 · KURVA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0567" y="3154680"/>
            <a:ext cx="201168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400" b="1">
                <a:solidFill>
                  <a:srgbClr val="2E3342"/>
                </a:solidFill>
                <a:latin typeface="Calibri"/>
              </a:rPr>
              <a:t>Progres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0567" y="3520440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akumulasi mingguan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21127.5" y="3291840.0"/>
            <a:ext cx="228600.0" cy="0.0"/>
          </a:xfrm>
          <a:prstGeom prst="bentConnector3">
            <a:avLst/>
          </a:prstGeom>
          <a:ln w="25400">
            <a:solidFill>
              <a:srgbClr val="7A65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861407.5" y="3291840.0"/>
            <a:ext cx="228600.0" cy="0.0"/>
          </a:xfrm>
          <a:prstGeom prst="bentConnector3">
            <a:avLst/>
          </a:prstGeom>
          <a:ln w="25400">
            <a:solidFill>
              <a:srgbClr val="7A65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01687.5" y="3291840.0"/>
            <a:ext cx="228600.0" cy="0.0"/>
          </a:xfrm>
          <a:prstGeom prst="bentConnector3">
            <a:avLst/>
          </a:prstGeom>
          <a:ln w="25400">
            <a:solidFill>
              <a:srgbClr val="7A65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41967.5" y="3291840.0"/>
            <a:ext cx="228600.0" cy="0.0"/>
          </a:xfrm>
          <a:prstGeom prst="bentConnector3">
            <a:avLst/>
          </a:prstGeom>
          <a:ln w="25400">
            <a:solidFill>
              <a:srgbClr val="7A65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447" y="4023360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788091"/>
                </a:solidFill>
                <a:latin typeface="Consolas"/>
              </a:rPr>
              <a:t>Hasil QTO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49727" y="4023360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788091"/>
                </a:solidFill>
                <a:latin typeface="Consolas"/>
              </a:rPr>
              <a:t>Σ koef × harga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0007" y="4023360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788091"/>
                </a:solidFill>
                <a:latin typeface="Consolas"/>
              </a:rPr>
              <a:t>Volume × Harga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0287" y="4023360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788091"/>
                </a:solidFill>
                <a:latin typeface="Consolas"/>
              </a:rPr>
              <a:t>Volume ÷ produktivitas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0567" y="4023360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788091"/>
                </a:solidFill>
                <a:latin typeface="Consolas"/>
              </a:rPr>
              <a:t>Σ bobot/minggu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EBE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4E399F"/>
                </a:solidFill>
                <a:latin typeface="Consolas"/>
              </a:rPr>
              <a:t>ROADMAP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Volume dari Revit BIM adalah modal awal. Mengubah satu tahap = semua hilirnya ikut berubah.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E3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2E4EA4"/>
                </a:solidFill>
                <a:latin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4A6ECD"/>
                </a:solidFill>
                <a:latin typeface="Consolas"/>
              </a:rPr>
              <a:t>TAHAP 1 · HARGA SATUAN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03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Dari Mana Harga Bahan &amp; Upah Diambil?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Tiga sumber resmi yang dipakai estimator untuk menyusun Analisa Harga Satuan Pekerjaan (AHSP).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840480" cy="868680"/>
          </a:xfrm>
          <a:prstGeom prst="roundRect">
            <a:avLst/>
          </a:prstGeom>
          <a:solidFill>
            <a:srgbClr val="E3EAF8"/>
          </a:solidFill>
          <a:ln w="19050">
            <a:solidFill>
              <a:srgbClr val="4A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816352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2E4EA4"/>
                </a:solidFill>
                <a:latin typeface="Consolas"/>
              </a:rPr>
              <a:t>SUMBER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35808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2E3342"/>
                </a:solidFill>
                <a:latin typeface="Calibri"/>
              </a:rPr>
              <a:t>HSPK Pemerintah Daerah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10128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788091"/>
                </a:solidFill>
                <a:latin typeface="Calibri"/>
              </a:rPr>
              <a:t>Harga Satuan Pokok Kegiatan — dirilis tiap awal tahun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3840480" cy="868680"/>
          </a:xfrm>
          <a:prstGeom prst="roundRect">
            <a:avLst/>
          </a:prstGeom>
          <a:solidFill>
            <a:srgbClr val="E3EAF8"/>
          </a:solidFill>
          <a:ln w="19050">
            <a:solidFill>
              <a:srgbClr val="4A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3822192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2E4EA4"/>
                </a:solidFill>
                <a:latin typeface="Consolas"/>
              </a:rPr>
              <a:t>SUMBER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41648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2E3342"/>
                </a:solidFill>
                <a:latin typeface="Calibri"/>
              </a:rPr>
              <a:t>Survei Pasar (min. 3 toko)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15968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788091"/>
                </a:solidFill>
                <a:latin typeface="Calibri"/>
              </a:rPr>
              <a:t>Harga aktual + ongkos angkut ke lokasi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3840480" cy="868680"/>
          </a:xfrm>
          <a:prstGeom prst="roundRect">
            <a:avLst/>
          </a:prstGeom>
          <a:solidFill>
            <a:srgbClr val="E3EAF8"/>
          </a:solidFill>
          <a:ln w="19050">
            <a:solidFill>
              <a:srgbClr val="4A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4828032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2E4EA4"/>
                </a:solidFill>
                <a:latin typeface="Consolas"/>
              </a:rPr>
              <a:t>SUMBER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47488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2E3342"/>
                </a:solidFill>
                <a:latin typeface="Calibri"/>
              </a:rPr>
              <a:t>SNI 7394 / 6897 / 2837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21808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788091"/>
                </a:solidFill>
                <a:latin typeface="Calibri"/>
              </a:rPr>
              <a:t>Koefisien resmi: bahan &amp; upah per 1 satuan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00400"/>
            <a:ext cx="3200400" cy="2286000"/>
          </a:xfrm>
          <a:prstGeom prst="roundRect">
            <a:avLst/>
          </a:prstGeom>
          <a:solidFill>
            <a:srgbClr val="4A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0" y="3566160"/>
            <a:ext cx="32004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E3EAF8"/>
                </a:solidFill>
                <a:latin typeface="Consolas"/>
              </a:rPr>
              <a:t>DIPROSES MENJADI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23360"/>
            <a:ext cx="3200400" cy="5486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AHSP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63440"/>
            <a:ext cx="320040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E3EAF8"/>
                </a:solidFill>
                <a:latin typeface="Calibri"/>
              </a:rPr>
              <a:t>Analisa Harga Satuan Pekerjaan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20" y="3177540.0"/>
            <a:ext cx="2011680" cy="1165860.0"/>
          </a:xfrm>
          <a:prstGeom prst="bentConnector3">
            <a:avLst/>
          </a:prstGeom>
          <a:ln w="19050">
            <a:solidFill>
              <a:srgbClr val="4A6EC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89120" y="4183380.0"/>
            <a:ext cx="2011680" cy="160020.0"/>
          </a:xfrm>
          <a:prstGeom prst="bentConnector3">
            <a:avLst/>
          </a:prstGeom>
          <a:ln w="19050">
            <a:solidFill>
              <a:srgbClr val="4A6EC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389120" y="4343400.0"/>
            <a:ext cx="2011680" cy="845820.0"/>
          </a:xfrm>
          <a:prstGeom prst="bentConnector3">
            <a:avLst/>
          </a:prstGeom>
          <a:ln w="19050">
            <a:solidFill>
              <a:srgbClr val="4A6EC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4343400.0"/>
            <a:ext cx="731520" cy="0.0"/>
          </a:xfrm>
          <a:prstGeom prst="bentConnector3">
            <a:avLst/>
          </a:prstGeom>
          <a:ln w="25400">
            <a:solidFill>
              <a:srgbClr val="4A6EC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378440" y="3977640"/>
            <a:ext cx="1828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2E4EA4"/>
                </a:solidFill>
                <a:latin typeface="Consolas"/>
              </a:rPr>
              <a:t>HASIL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4251960"/>
            <a:ext cx="182880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E3342"/>
                </a:solidFill>
                <a:latin typeface="Calibri"/>
              </a:rPr>
              <a:t>Rp / m³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4663440"/>
            <a:ext cx="1828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788091"/>
                </a:solidFill>
                <a:latin typeface="Calibri"/>
              </a:rPr>
              <a:t>per 1 satuan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E3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2E4EA4"/>
                </a:solidFill>
                <a:latin typeface="Consolas"/>
              </a:rPr>
              <a:t>SUMBER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Proyek pemerintah wajib pakai HSPK. Swasta sering menggabungkan HSPK + survei sendiri + margin negosiasi.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E3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2E4EA4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4A6ECD"/>
                </a:solidFill>
                <a:latin typeface="Consolas"/>
              </a:rPr>
              <a:t>TAHAP 1 · HARGA SATUAN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04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Cara Menyusun Harga Satuan: Resep yang Kuantitatif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Bayangkan resep masakan: bahan + cara + upah juru masak. AHSP adalah versi terstruktur dari resep ini.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4114800" cy="777240"/>
          </a:xfrm>
          <a:prstGeom prst="roundRect">
            <a:avLst/>
          </a:prstGeom>
          <a:solidFill>
            <a:srgbClr val="E3EAF8"/>
          </a:solidFill>
          <a:ln w="15240">
            <a:solidFill>
              <a:srgbClr val="4A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13232" y="2788920"/>
            <a:ext cx="502920" cy="502920"/>
          </a:xfrm>
          <a:prstGeom prst="ellipse">
            <a:avLst/>
          </a:prstGeom>
          <a:solidFill>
            <a:srgbClr val="4A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61488"/>
            <a:ext cx="32004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E3342"/>
                </a:solidFill>
                <a:latin typeface="Calibri"/>
              </a:rPr>
              <a:t>Bahan (Material)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63240"/>
            <a:ext cx="32004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788091"/>
                </a:solidFill>
                <a:latin typeface="Consolas"/>
              </a:rPr>
              <a:t>Σ koefisien × harga bahan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93592"/>
            <a:ext cx="4114800" cy="777240"/>
          </a:xfrm>
          <a:prstGeom prst="roundRect">
            <a:avLst/>
          </a:prstGeom>
          <a:solidFill>
            <a:srgbClr val="E0F2F5"/>
          </a:solidFill>
          <a:ln w="15240">
            <a:solidFill>
              <a:srgbClr val="429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13232" y="3730752"/>
            <a:ext cx="502920" cy="502920"/>
          </a:xfrm>
          <a:prstGeom prst="ellipse">
            <a:avLst/>
          </a:prstGeom>
          <a:solidFill>
            <a:srgbClr val="42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703320"/>
            <a:ext cx="32004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E3342"/>
                </a:solidFill>
                <a:latin typeface="Calibri"/>
              </a:rPr>
              <a:t>Upah (Labour)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05072"/>
            <a:ext cx="32004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788091"/>
                </a:solidFill>
                <a:latin typeface="Consolas"/>
              </a:rPr>
              <a:t>Σ koefisien OH × tarif/hari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35424"/>
            <a:ext cx="4114800" cy="777240"/>
          </a:xfrm>
          <a:prstGeom prst="roundRect">
            <a:avLst/>
          </a:prstGeom>
          <a:solidFill>
            <a:srgbClr val="FAEFDC"/>
          </a:solidFill>
          <a:ln w="15240">
            <a:solidFill>
              <a:srgbClr val="D89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13232" y="4672584"/>
            <a:ext cx="502920" cy="502920"/>
          </a:xfrm>
          <a:prstGeom prst="ellipse">
            <a:avLst/>
          </a:prstGeom>
          <a:solidFill>
            <a:srgbClr val="D8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645152"/>
            <a:ext cx="32004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E3342"/>
                </a:solidFill>
                <a:latin typeface="Calibri"/>
              </a:rPr>
              <a:t>Alat (Equipment, opsional)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46904"/>
            <a:ext cx="32004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788091"/>
                </a:solidFill>
                <a:latin typeface="Consolas"/>
              </a:rPr>
              <a:t>Σ koefisien × sewa alat/hari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465576"/>
            <a:ext cx="3657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2000" b="1">
                <a:solidFill>
                  <a:srgbClr val="788091"/>
                </a:solidFill>
                <a:latin typeface="Consolas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407408"/>
            <a:ext cx="3657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2000" b="1">
                <a:solidFill>
                  <a:srgbClr val="788091"/>
                </a:solidFill>
                <a:latin typeface="Consolas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743200"/>
            <a:ext cx="64008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E3342"/>
                </a:solidFill>
                <a:latin typeface="Calibri"/>
              </a:rPr>
              <a:t>Subtotal langsung × (1 + 10% OHP)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246120"/>
            <a:ext cx="640080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788091"/>
                </a:solidFill>
                <a:latin typeface="Consolas"/>
              </a:rPr>
              <a:t>OHP = Overhead &amp; Profit kontraktor (sudah disisipkan oleh AHSP)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840480"/>
            <a:ext cx="3474720" cy="1554480"/>
          </a:xfrm>
          <a:prstGeom prst="roundRect">
            <a:avLst/>
          </a:prstGeom>
          <a:solidFill>
            <a:srgbClr val="4A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0" y="4023360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E3EAF8"/>
                </a:solidFill>
                <a:latin typeface="Consolas"/>
              </a:rPr>
              <a:t>HARGA SATUAN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343400"/>
            <a:ext cx="3474720" cy="5486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Rp / m³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937760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≈ Rp 1.320.259 untuk 1 m³ beton K-225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840480"/>
            <a:ext cx="25603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2E4EA4"/>
                </a:solidFill>
                <a:latin typeface="Consolas"/>
              </a:rPr>
              <a:t>APA ITU KOEFISIEN?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114800"/>
            <a:ext cx="2560320" cy="12801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35A6B"/>
                </a:solidFill>
                <a:latin typeface="Calibri"/>
              </a:rPr>
              <a:t>Jumlah bahan/upah untuk 1 unit output. Contoh: 371 kg semen + 0,499 m³ pasir + 0,776 m³ kerikil + 215 L air = 1 m³ beton K-225.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E3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2E4EA4"/>
                </a:solidFill>
                <a:latin typeface="Consolas"/>
              </a:rPr>
              <a:t>RUMUS AHSP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OHP 10% menutup biaya tak langsung kontraktor + laba. Harga satuan ini dipakai di RAB.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E3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2E4EA4"/>
                </a:solidFill>
                <a:latin typeface="Consola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4A6ECD"/>
                </a:solidFill>
                <a:latin typeface="Consolas"/>
              </a:rPr>
              <a:t>TAHAP 1 · HARGA SATUAN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05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Contoh Nyata: 1 m³ Beton Struktur K-225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Pecahkan resep menjadi angka — koefisien dari SNI 7394, harga dari HSPK rata-rata Jawa.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064240" cy="292608"/>
          </a:xfrm>
          <a:prstGeom prst="rect">
            <a:avLst/>
          </a:prstGeom>
          <a:solidFill>
            <a:srgbClr val="F6F7F9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3474720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900" b="1">
                <a:solidFill>
                  <a:srgbClr val="788091"/>
                </a:solidFill>
                <a:latin typeface="Consolas"/>
              </a:rPr>
              <a:t>KOMPONEN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31136"/>
            <a:ext cx="1097280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900" b="1">
                <a:solidFill>
                  <a:srgbClr val="788091"/>
                </a:solidFill>
                <a:latin typeface="Consolas"/>
              </a:rPr>
              <a:t>KOEF.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231136"/>
            <a:ext cx="548640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900" b="1">
                <a:solidFill>
                  <a:srgbClr val="788091"/>
                </a:solidFill>
                <a:latin typeface="Consolas"/>
              </a:rPr>
              <a:t>SAT.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31136"/>
            <a:ext cx="2011680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900" b="1">
                <a:solidFill>
                  <a:srgbClr val="788091"/>
                </a:solidFill>
                <a:latin typeface="Consolas"/>
              </a:rPr>
              <a:t>HARGA DASAR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31136"/>
            <a:ext cx="3017520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900" b="1">
                <a:solidFill>
                  <a:srgbClr val="788091"/>
                </a:solidFill>
                <a:latin typeface="Consolas"/>
              </a:rPr>
              <a:t>JUMLAH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11064240" cy="274320"/>
          </a:xfrm>
          <a:prstGeom prst="rect">
            <a:avLst/>
          </a:prstGeom>
          <a:solidFill>
            <a:srgbClr val="E3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2523744"/>
            <a:ext cx="11064240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900" b="1">
                <a:solidFill>
                  <a:srgbClr val="2E4EA4"/>
                </a:solidFill>
                <a:latin typeface="Consolas"/>
              </a:rPr>
              <a:t>A · BAHAN (MATERIAL)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61488"/>
            <a:ext cx="110642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Semen Portland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88920"/>
            <a:ext cx="10972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371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788920"/>
            <a:ext cx="54864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535A6B"/>
                </a:solidFill>
                <a:latin typeface="Consolas"/>
              </a:rPr>
              <a:t>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788920"/>
            <a:ext cx="20116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1.500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788920"/>
            <a:ext cx="30175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556.500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35808"/>
            <a:ext cx="110642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" y="3063240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Pasir beton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063240"/>
            <a:ext cx="10972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0,499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063240"/>
            <a:ext cx="54864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535A6B"/>
                </a:solidFill>
                <a:latin typeface="Consolas"/>
              </a:rPr>
              <a:t>m³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063240"/>
            <a:ext cx="20116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285.000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063240"/>
            <a:ext cx="30175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142.215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10128"/>
            <a:ext cx="110642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3337560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Kerikil /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337560"/>
            <a:ext cx="10972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0,776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337560"/>
            <a:ext cx="54864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535A6B"/>
                </a:solidFill>
                <a:latin typeface="Consolas"/>
              </a:rPr>
              <a:t>m³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337560"/>
            <a:ext cx="20116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320.000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337560"/>
            <a:ext cx="30175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248.320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584448"/>
            <a:ext cx="110642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611880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Air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611880"/>
            <a:ext cx="10972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215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611880"/>
            <a:ext cx="54864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535A6B"/>
                </a:solidFill>
                <a:latin typeface="Consolas"/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611880"/>
            <a:ext cx="20116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611880"/>
            <a:ext cx="30175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10.750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58768"/>
            <a:ext cx="11064240" cy="274320"/>
          </a:xfrm>
          <a:prstGeom prst="rect">
            <a:avLst/>
          </a:prstGeom>
          <a:solidFill>
            <a:srgbClr val="E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3895344"/>
            <a:ext cx="11064240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900" b="1">
                <a:solidFill>
                  <a:srgbClr val="2A6E7C"/>
                </a:solidFill>
                <a:latin typeface="Consolas"/>
              </a:rPr>
              <a:t>B · UPAH (LABOUR)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133088"/>
            <a:ext cx="110642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0080" y="4160520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Pekerja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4160520"/>
            <a:ext cx="10972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1,650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4160520"/>
            <a:ext cx="54864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535A6B"/>
                </a:solidFill>
                <a:latin typeface="Consolas"/>
              </a:rPr>
              <a:t>OH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160520"/>
            <a:ext cx="20116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110.000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160520"/>
            <a:ext cx="30175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181.500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407408"/>
            <a:ext cx="110642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40080" y="4434840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Tukang batu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4434840"/>
            <a:ext cx="10972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0,275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4434840"/>
            <a:ext cx="54864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535A6B"/>
                </a:solidFill>
                <a:latin typeface="Consolas"/>
              </a:rPr>
              <a:t>OH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434840"/>
            <a:ext cx="20116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150.000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434840"/>
            <a:ext cx="30175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41.250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681728"/>
            <a:ext cx="110642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40080" y="4709160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Kepala tukang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4709160"/>
            <a:ext cx="10972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0,028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4709160"/>
            <a:ext cx="54864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535A6B"/>
                </a:solidFill>
                <a:latin typeface="Consolas"/>
              </a:rPr>
              <a:t>OH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4709160"/>
            <a:ext cx="20116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170.000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4709160"/>
            <a:ext cx="30175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4.760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956048"/>
            <a:ext cx="110642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40080" y="4983480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Mandor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4983480"/>
            <a:ext cx="10972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0,083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0" y="4983480"/>
            <a:ext cx="54864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535A6B"/>
                </a:solidFill>
                <a:latin typeface="Consolas"/>
              </a:rPr>
              <a:t>OH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4983480"/>
            <a:ext cx="201168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180.000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4983480"/>
            <a:ext cx="30175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Rp 14.940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230368"/>
            <a:ext cx="11064240" cy="292608"/>
          </a:xfrm>
          <a:prstGeom prst="rect">
            <a:avLst/>
          </a:prstGeom>
          <a:solidFill>
            <a:srgbClr val="F6F7F9"/>
          </a:solidFill>
          <a:ln w="8890">
            <a:solidFill>
              <a:srgbClr val="2E3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40080" y="5266944"/>
            <a:ext cx="7315200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2E3342"/>
                </a:solidFill>
                <a:latin typeface="Calibri"/>
              </a:rPr>
              <a:t>Subtotal langsung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5266944"/>
            <a:ext cx="3108960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Rp 1.200.235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504688"/>
            <a:ext cx="110642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40080" y="5532120"/>
            <a:ext cx="34747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Overhead &amp; Profit (10%)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3920" y="5532120"/>
            <a:ext cx="301752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535A6B"/>
                </a:solidFill>
                <a:latin typeface="Consolas"/>
              </a:rPr>
              <a:t>+ Rp 120.024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5779008"/>
            <a:ext cx="11064240" cy="329184"/>
          </a:xfrm>
          <a:prstGeom prst="rect">
            <a:avLst/>
          </a:prstGeom>
          <a:solidFill>
            <a:srgbClr val="4A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40080" y="5833872"/>
            <a:ext cx="73152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HARGA SATUAN per m³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80" y="5833872"/>
            <a:ext cx="3108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onsolas"/>
              </a:rPr>
              <a:t>Rp 1.320.259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E3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2E4EA4"/>
                </a:solidFill>
                <a:latin typeface="Consolas"/>
              </a:rPr>
              <a:t>STUDI KASUS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Angka ini dipakai di seluruh RAB untuk setiap m³ beton struktur. Volume 32 m³ × Rp 1.320.259 = Rp 42,2 jt.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E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2A6E7C"/>
                </a:solidFill>
                <a:latin typeface="Consola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429BAD"/>
                </a:solidFill>
                <a:latin typeface="Consolas"/>
              </a:rPr>
              <a:t>TAHAP 2 · RAB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06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Cara Membuat RAB: Kalikan dan Jumlahkan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RAB = Rencana Anggaran Biaya. Volume × Harga Satuan, lalu jumlahkan semua 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286000"/>
            <a:ext cx="2377440" cy="822960"/>
          </a:xfrm>
          <a:prstGeom prst="roundRect">
            <a:avLst/>
          </a:prstGeom>
          <a:solidFill>
            <a:srgbClr val="E0F2F5"/>
          </a:solidFill>
          <a:ln w="19050">
            <a:solidFill>
              <a:srgbClr val="429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23774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2A6E7C"/>
                </a:solidFill>
                <a:latin typeface="Consolas"/>
              </a:rPr>
              <a:t>DARI REVIT BIM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237744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1">
                <a:solidFill>
                  <a:srgbClr val="2E3342"/>
                </a:solidFill>
                <a:latin typeface="Calibri"/>
              </a:rPr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2560320"/>
            <a:ext cx="4572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2400" b="1">
                <a:solidFill>
                  <a:srgbClr val="788091"/>
                </a:solidFill>
                <a:latin typeface="Consolas"/>
              </a:rPr>
              <a:t>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86000"/>
            <a:ext cx="2377440" cy="822960"/>
          </a:xfrm>
          <a:prstGeom prst="roundRect">
            <a:avLst/>
          </a:prstGeom>
          <a:solidFill>
            <a:srgbClr val="E3EAF8"/>
          </a:solidFill>
          <a:ln w="19050">
            <a:solidFill>
              <a:srgbClr val="4A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89120" y="2423160"/>
            <a:ext cx="23774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2E4EA4"/>
                </a:solidFill>
                <a:latin typeface="Consolas"/>
              </a:rPr>
              <a:t>DARI AHSP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43200"/>
            <a:ext cx="237744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1">
                <a:solidFill>
                  <a:srgbClr val="2E3342"/>
                </a:solidFill>
                <a:latin typeface="Calibri"/>
              </a:rPr>
              <a:t>Harga Satuan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560320"/>
            <a:ext cx="4572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2400" b="1">
                <a:solidFill>
                  <a:srgbClr val="788091"/>
                </a:solidFill>
                <a:latin typeface="Consolas"/>
              </a:rPr>
              <a:t>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286000"/>
            <a:ext cx="2377440" cy="822960"/>
          </a:xfrm>
          <a:prstGeom prst="roundRect">
            <a:avLst/>
          </a:prstGeom>
          <a:solidFill>
            <a:srgbClr val="42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0" y="2423160"/>
            <a:ext cx="23774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HASIL PER 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743200"/>
            <a:ext cx="237744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Total Item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11064240" cy="310896"/>
          </a:xfrm>
          <a:prstGeom prst="rect">
            <a:avLst/>
          </a:prstGeom>
          <a:solidFill>
            <a:srgbClr val="F6F7F9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3694176"/>
            <a:ext cx="3657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2E3342"/>
                </a:solidFill>
                <a:latin typeface="Calibri"/>
              </a:rPr>
              <a:t>D.1 Beton struktur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94176"/>
            <a:ext cx="16459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0">
                <a:solidFill>
                  <a:srgbClr val="2E3342"/>
                </a:solidFill>
                <a:latin typeface="Consolas"/>
              </a:rPr>
              <a:t>32,40 m³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94176"/>
            <a:ext cx="2743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788091"/>
                </a:solidFill>
                <a:latin typeface="Consolas"/>
              </a:rPr>
              <a:t>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694176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0">
                <a:solidFill>
                  <a:srgbClr val="2E3342"/>
                </a:solidFill>
                <a:latin typeface="Consolas"/>
              </a:rPr>
              <a:t>Rp 1.320.259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694176"/>
            <a:ext cx="2743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788091"/>
                </a:solidFill>
                <a:latin typeface="Consolas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94176"/>
            <a:ext cx="23774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Rp 42.776.392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14216"/>
            <a:ext cx="11064240" cy="310896"/>
          </a:xfrm>
          <a:prstGeom prst="rect">
            <a:avLst/>
          </a:prstGeom>
          <a:solidFill>
            <a:srgbClr val="F6F7F9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4050792"/>
            <a:ext cx="3657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2E3342"/>
                </a:solidFill>
                <a:latin typeface="Calibri"/>
              </a:rPr>
              <a:t>E.1 Dinding bata merah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050792"/>
            <a:ext cx="16459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0">
                <a:solidFill>
                  <a:srgbClr val="2E3342"/>
                </a:solidFill>
                <a:latin typeface="Consolas"/>
              </a:rPr>
              <a:t>218,00 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050792"/>
            <a:ext cx="2743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788091"/>
                </a:solidFill>
                <a:latin typeface="Consolas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050792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0">
                <a:solidFill>
                  <a:srgbClr val="2E3342"/>
                </a:solidFill>
                <a:latin typeface="Consolas"/>
              </a:rPr>
              <a:t>Rp 160.000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050792"/>
            <a:ext cx="2743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788091"/>
                </a:solidFill>
                <a:latin typeface="Consolas"/>
              </a:rPr>
              <a:t>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050792"/>
            <a:ext cx="23774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Rp 34.880.000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70832"/>
            <a:ext cx="11064240" cy="310896"/>
          </a:xfrm>
          <a:prstGeom prst="rect">
            <a:avLst/>
          </a:prstGeom>
          <a:solidFill>
            <a:srgbClr val="F6F7F9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5800" y="4407408"/>
            <a:ext cx="3657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2E3342"/>
                </a:solidFill>
                <a:latin typeface="Calibri"/>
              </a:rPr>
              <a:t>H.1 Pengecatan interior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407408"/>
            <a:ext cx="16459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0">
                <a:solidFill>
                  <a:srgbClr val="2E3342"/>
                </a:solidFill>
                <a:latin typeface="Consolas"/>
              </a:rPr>
              <a:t>434,00 m²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407408"/>
            <a:ext cx="2743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788091"/>
                </a:solidFill>
                <a:latin typeface="Consolas"/>
              </a:rPr>
              <a:t>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407408"/>
            <a:ext cx="20116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0">
                <a:solidFill>
                  <a:srgbClr val="2E3342"/>
                </a:solidFill>
                <a:latin typeface="Consolas"/>
              </a:rPr>
              <a:t>Rp 45.000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407408"/>
            <a:ext cx="2743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788091"/>
                </a:solidFill>
                <a:latin typeface="Consolas"/>
              </a:rPr>
              <a:t>=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407408"/>
            <a:ext cx="23774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Rp 19.530.000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818888"/>
            <a:ext cx="11064240" cy="457200"/>
          </a:xfrm>
          <a:prstGeom prst="roundRect">
            <a:avLst/>
          </a:prstGeom>
          <a:solidFill>
            <a:srgbClr val="42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5800" y="4928616"/>
            <a:ext cx="73152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Σ semua item + PPN 11% → JUMLAH BIAYA PROYEK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4928616"/>
            <a:ext cx="27432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onsolas"/>
              </a:rPr>
              <a:t>Rp 532.755.000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E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2A6E7C"/>
                </a:solidFill>
                <a:latin typeface="Consolas"/>
              </a:rPr>
              <a:t>CARA KERJA RAB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Setiap baris = satu item WBS dengan volume dari Revit, harga dari AHSP. Total + PPN = anggaran proyek.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E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2A6E7C"/>
                </a:solidFill>
                <a:latin typeface="Consola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429BAD"/>
                </a:solidFill>
                <a:latin typeface="Consolas"/>
              </a:rPr>
              <a:t>TAHAP 2 · RAB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07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Setelah Item Dijumlahkan: Naikkan ke Total Proyek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Subtotal 'biaya langsung' belum termasuk pajak. Tambahkan markup tingkat proyek.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200400" cy="1371600"/>
          </a:xfrm>
          <a:prstGeom prst="roundRect">
            <a:avLst/>
          </a:prstGeom>
          <a:solidFill>
            <a:srgbClr val="E0F2F5"/>
          </a:solidFill>
          <a:ln w="19050">
            <a:solidFill>
              <a:srgbClr val="429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32004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2A6E7C"/>
                </a:solidFill>
                <a:latin typeface="Consolas"/>
              </a:rPr>
              <a:t>LANGKAH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320040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2E3342"/>
                </a:solidFill>
                <a:latin typeface="Calibri"/>
              </a:rPr>
              <a:t>Jumlah Biaya Langsung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32004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788091"/>
                </a:solidFill>
                <a:latin typeface="Calibri"/>
              </a:rPr>
              <a:t>Σ (Volume × Harga Satuan)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32004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E3342"/>
                </a:solidFill>
                <a:latin typeface="Consolas"/>
              </a:rPr>
              <a:t>Rp 480.000.000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200400"/>
            <a:ext cx="3200400" cy="1371600"/>
          </a:xfrm>
          <a:prstGeom prst="roundRect">
            <a:avLst/>
          </a:prstGeom>
          <a:solidFill>
            <a:srgbClr val="E0F2F5"/>
          </a:solidFill>
          <a:ln w="19050">
            <a:solidFill>
              <a:srgbClr val="429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80560" y="3337560"/>
            <a:ext cx="32004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2A6E7C"/>
                </a:solidFill>
                <a:latin typeface="Consolas"/>
              </a:rPr>
              <a:t>LANGKAH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611880"/>
            <a:ext cx="320040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2E3342"/>
                </a:solidFill>
                <a:latin typeface="Calibri"/>
              </a:rPr>
              <a:t>+ PPN 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931920"/>
            <a:ext cx="32004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788091"/>
                </a:solidFill>
                <a:latin typeface="Calibri"/>
              </a:rPr>
              <a:t>Pajak Pertambahan Nilai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160520"/>
            <a:ext cx="32004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E3342"/>
                </a:solidFill>
                <a:latin typeface="Consolas"/>
              </a:rPr>
              <a:t>+ Rp 52.800.000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651760"/>
            <a:ext cx="3200400" cy="1371600"/>
          </a:xfrm>
          <a:prstGeom prst="roundRect">
            <a:avLst/>
          </a:prstGeom>
          <a:solidFill>
            <a:srgbClr val="42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46720" y="2788920"/>
            <a:ext cx="32004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E3EAF8"/>
                </a:solidFill>
                <a:latin typeface="Consolas"/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063240"/>
            <a:ext cx="320040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TOTAL PROYEK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383280"/>
            <a:ext cx="32004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E0F2F5"/>
                </a:solidFill>
                <a:latin typeface="Calibri"/>
              </a:rPr>
              <a:t>Yang dibayar pemilik ke kontraktor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611880"/>
            <a:ext cx="32004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onsolas"/>
              </a:rPr>
              <a:t>Rp 532,8 jt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31920" y="3886200.0"/>
            <a:ext cx="365760" cy="640080.0"/>
          </a:xfrm>
          <a:prstGeom prst="bentConnector3">
            <a:avLst/>
          </a:prstGeom>
          <a:ln w="25400">
            <a:solidFill>
              <a:srgbClr val="429BA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49040" y="3886200"/>
            <a:ext cx="7315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2A6E7C"/>
                </a:solidFill>
                <a:latin typeface="Consolas"/>
              </a:rPr>
              <a:t>+11%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498080" y="3337560.0"/>
            <a:ext cx="365760" cy="548640.0"/>
          </a:xfrm>
          <a:prstGeom prst="bentConnector3">
            <a:avLst/>
          </a:prstGeom>
          <a:ln w="25400">
            <a:solidFill>
              <a:srgbClr val="429BA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0" y="3291840"/>
            <a:ext cx="7315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2A6E7C"/>
                </a:solidFill>
                <a:latin typeface="Consolas"/>
              </a:rPr>
              <a:t>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788091"/>
                </a:solidFill>
                <a:latin typeface="Calibri"/>
              </a:rPr>
              <a:t>📌  Standar Taiwan: bukan 1 baris PPN, tapi 5 lapis markup (管理 7% + 利潤 5% + 品管 1% + 環安衛 1,5% + 營業稅 5%).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E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2A6E7C"/>
                </a:solidFill>
                <a:latin typeface="Consolas"/>
              </a:rPr>
              <a:t>MARKUP PROYEK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Indonesia menyisipkan OHP 10% di tiap harga satuan via AHSP — di tingkat proyek hanya PPN 11%.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FA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88590F"/>
                </a:solidFill>
                <a:latin typeface="Consola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D89633"/>
                </a:solidFill>
                <a:latin typeface="Consolas"/>
              </a:rPr>
              <a:t>TAHAP 3 · JADWAL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08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Cara Menghitung Durasi: Volume Dibagi Kecepatan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Bukan tebakan. Setiap pekerjaan punya angka produktivitas baku per hari per regu.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2743200" cy="5486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200" b="1">
                <a:solidFill>
                  <a:srgbClr val="2E3342"/>
                </a:solidFill>
                <a:latin typeface="Calibri"/>
              </a:rPr>
              <a:t>Durasi (hari) 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286000"/>
            <a:ext cx="411480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0">
                <a:solidFill>
                  <a:srgbClr val="2E3342"/>
                </a:solidFill>
                <a:latin typeface="Calibri"/>
              </a:rPr>
              <a:t>Volume Pekerjaan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0604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0">
                <a:solidFill>
                  <a:srgbClr val="788091"/>
                </a:solidFill>
                <a:latin typeface="Consolas"/>
              </a:rPr>
              <a:t>(m³, m², kg)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2926080"/>
            <a:ext cx="4114800" cy="0"/>
          </a:xfrm>
          <a:prstGeom prst="line">
            <a:avLst/>
          </a:prstGeom>
          <a:ln w="25400">
            <a:solidFill>
              <a:srgbClr val="2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23360" y="2971800"/>
            <a:ext cx="411480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0">
                <a:solidFill>
                  <a:srgbClr val="2E3342"/>
                </a:solidFill>
                <a:latin typeface="Calibri"/>
              </a:rPr>
              <a:t>Produktivitas × Jumlah Regu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9184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0">
                <a:solidFill>
                  <a:srgbClr val="788091"/>
                </a:solidFill>
                <a:latin typeface="Consolas"/>
              </a:rPr>
              <a:t>(m³/hari/regu)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0515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88590F"/>
                </a:solidFill>
                <a:latin typeface="Consolas"/>
              </a:rPr>
              <a:t>📐 CONTOH NYATA — Beton Struktur D.1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3474720" cy="822960"/>
          </a:xfrm>
          <a:prstGeom prst="roundRect">
            <a:avLst/>
          </a:prstGeom>
          <a:solidFill>
            <a:srgbClr val="FAEFDC"/>
          </a:solidFill>
          <a:ln w="15240">
            <a:solidFill>
              <a:srgbClr val="D89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4416552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88590F"/>
                </a:solidFill>
                <a:latin typeface="Consolas"/>
              </a:rPr>
              <a:t>VOLUME (Revit)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347472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E3342"/>
                </a:solidFill>
                <a:latin typeface="Consolas"/>
              </a:rPr>
              <a:t>32 m³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4297680"/>
            <a:ext cx="3474720" cy="822960"/>
          </a:xfrm>
          <a:prstGeom prst="roundRect">
            <a:avLst/>
          </a:prstGeom>
          <a:solidFill>
            <a:srgbClr val="FAEFDC"/>
          </a:solidFill>
          <a:ln w="15240">
            <a:solidFill>
              <a:srgbClr val="D89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43400" y="4416552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88590F"/>
                </a:solidFill>
                <a:latin typeface="Consolas"/>
              </a:rPr>
              <a:t>PRODUKTIVITAS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663440"/>
            <a:ext cx="347472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E3342"/>
                </a:solidFill>
                <a:latin typeface="Consolas"/>
              </a:rPr>
              <a:t>1,2 m³/hari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297680"/>
            <a:ext cx="3474720" cy="822960"/>
          </a:xfrm>
          <a:prstGeom prst="roundRect">
            <a:avLst/>
          </a:prstGeom>
          <a:solidFill>
            <a:srgbClr val="D8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55280" y="4416552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FAEFDC"/>
                </a:solidFill>
                <a:latin typeface="Consolas"/>
              </a:rPr>
              <a:t>DURASI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4663440"/>
            <a:ext cx="347472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≈ 27 hari = 6 minggu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10515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88590F"/>
                </a:solidFill>
                <a:latin typeface="Consolas"/>
              </a:rPr>
              <a:t>📊 PRODUKTIVITAS BAKU TIAP PEKERJAAN: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23560"/>
            <a:ext cx="1371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2E3342"/>
                </a:solidFill>
                <a:latin typeface="Calibri"/>
              </a:rPr>
              <a:t>Cor beton: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623560"/>
            <a:ext cx="1371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88590F"/>
                </a:solidFill>
                <a:latin typeface="Consolas"/>
              </a:rPr>
              <a:t>1,2 m³/hari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623560"/>
            <a:ext cx="1371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2E3342"/>
                </a:solidFill>
                <a:latin typeface="Calibri"/>
              </a:rPr>
              <a:t>Pasang bata: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623560"/>
            <a:ext cx="1371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88590F"/>
                </a:solidFill>
                <a:latin typeface="Consolas"/>
              </a:rPr>
              <a:t>10 m²/hari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623560"/>
            <a:ext cx="1371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2E3342"/>
                </a:solidFill>
                <a:latin typeface="Calibri"/>
              </a:rPr>
              <a:t>Plester: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623560"/>
            <a:ext cx="1371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88590F"/>
                </a:solidFill>
                <a:latin typeface="Consolas"/>
              </a:rPr>
              <a:t>12 m²/hari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5623560"/>
            <a:ext cx="1371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2E3342"/>
                </a:solidFill>
                <a:latin typeface="Calibri"/>
              </a:rPr>
              <a:t>Pengecatan: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623560"/>
            <a:ext cx="1371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88590F"/>
                </a:solidFill>
                <a:latin typeface="Consolas"/>
              </a:rPr>
              <a:t>25 m²/hari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FA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88590F"/>
                </a:solidFill>
                <a:latin typeface="Consolas"/>
              </a:rPr>
              <a:t>RUMUS DURASI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Curing beton menambah waktu kalender meski tidak ada 'kerja'. 27 hari dibulatkan ke 6 minggu.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FA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88590F"/>
                </a:solidFill>
                <a:latin typeface="Consola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D89633"/>
                </a:solidFill>
                <a:latin typeface="Consolas"/>
              </a:rPr>
              <a:t>TAHAP 3 · JADWAL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09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Urutan Pekerjaan: Apa Harus Selesai Dulu?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Predecessor adalah ketergantungan fisik-logis (kolom butuh pondasi dulu).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471" y="2926080"/>
            <a:ext cx="1371600" cy="914400"/>
          </a:xfrm>
          <a:prstGeom prst="roundRect">
            <a:avLst/>
          </a:prstGeom>
          <a:solidFill>
            <a:srgbClr val="FAEFDC"/>
          </a:solidFill>
          <a:ln w="19050">
            <a:solidFill>
              <a:srgbClr val="D89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1471" y="3063240"/>
            <a:ext cx="137160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1">
                <a:solidFill>
                  <a:srgbClr val="2E3342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471" y="3474720"/>
            <a:ext cx="13716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0">
                <a:solidFill>
                  <a:srgbClr val="2E3342"/>
                </a:solidFill>
                <a:latin typeface="Calibri"/>
              </a:rPr>
              <a:t>Persiapan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73071.5" y="3383280.0"/>
            <a:ext cx="164592.0" cy="0.0"/>
          </a:xfrm>
          <a:prstGeom prst="bentConnector3">
            <a:avLst/>
          </a:prstGeom>
          <a:ln w="19050">
            <a:solidFill>
              <a:srgbClr val="D896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72487" y="3063240"/>
            <a:ext cx="36576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1">
                <a:solidFill>
                  <a:srgbClr val="88590F"/>
                </a:solidFill>
                <a:latin typeface="Consolas"/>
              </a:rPr>
              <a:t>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7663" y="2926080"/>
            <a:ext cx="1371600" cy="914400"/>
          </a:xfrm>
          <a:prstGeom prst="roundRect">
            <a:avLst/>
          </a:prstGeom>
          <a:solidFill>
            <a:srgbClr val="FAEFDC"/>
          </a:solidFill>
          <a:ln w="19050">
            <a:solidFill>
              <a:srgbClr val="D89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337663" y="3063240"/>
            <a:ext cx="137160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1">
                <a:solidFill>
                  <a:srgbClr val="2E3342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663" y="3474720"/>
            <a:ext cx="13716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0">
                <a:solidFill>
                  <a:srgbClr val="2E3342"/>
                </a:solidFill>
                <a:latin typeface="Calibri"/>
              </a:rPr>
              <a:t>Galian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09263.5" y="3383280.0"/>
            <a:ext cx="164592.0" cy="0.0"/>
          </a:xfrm>
          <a:prstGeom prst="bentConnector3">
            <a:avLst/>
          </a:prstGeom>
          <a:ln w="19050">
            <a:solidFill>
              <a:srgbClr val="D896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08679" y="3063240"/>
            <a:ext cx="36576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1">
                <a:solidFill>
                  <a:srgbClr val="88590F"/>
                </a:solidFill>
                <a:latin typeface="Consolas"/>
              </a:rPr>
              <a:t>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3855" y="2926080"/>
            <a:ext cx="1371600" cy="914400"/>
          </a:xfrm>
          <a:prstGeom prst="roundRect">
            <a:avLst/>
          </a:prstGeom>
          <a:solidFill>
            <a:srgbClr val="FAEFDC"/>
          </a:solidFill>
          <a:ln w="19050">
            <a:solidFill>
              <a:srgbClr val="D89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873855" y="3063240"/>
            <a:ext cx="137160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1">
                <a:solidFill>
                  <a:srgbClr val="2E3342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3855" y="3474720"/>
            <a:ext cx="13716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0">
                <a:solidFill>
                  <a:srgbClr val="2E3342"/>
                </a:solidFill>
                <a:latin typeface="Calibri"/>
              </a:rPr>
              <a:t>Pondasi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45455.5" y="3383280.0"/>
            <a:ext cx="164592.0" cy="0.0"/>
          </a:xfrm>
          <a:prstGeom prst="bentConnector3">
            <a:avLst/>
          </a:prstGeom>
          <a:ln w="19050">
            <a:solidFill>
              <a:srgbClr val="D896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44871" y="3063240"/>
            <a:ext cx="36576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1">
                <a:solidFill>
                  <a:srgbClr val="88590F"/>
                </a:solidFill>
                <a:latin typeface="Consolas"/>
              </a:rPr>
              <a:t>FS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0047" y="2926080"/>
            <a:ext cx="1371600" cy="914400"/>
          </a:xfrm>
          <a:prstGeom prst="roundRect">
            <a:avLst/>
          </a:prstGeom>
          <a:solidFill>
            <a:srgbClr val="D8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10047" y="3063240"/>
            <a:ext cx="137160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0047" y="3474720"/>
            <a:ext cx="13716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Struktur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81647.5" y="3383280.0"/>
            <a:ext cx="164592.0" cy="0.0"/>
          </a:xfrm>
          <a:prstGeom prst="bentConnector3">
            <a:avLst/>
          </a:prstGeom>
          <a:ln w="19050">
            <a:solidFill>
              <a:srgbClr val="D896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81063" y="3063240"/>
            <a:ext cx="36576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1">
                <a:solidFill>
                  <a:srgbClr val="88590F"/>
                </a:solidFill>
                <a:latin typeface="Consolas"/>
              </a:rPr>
              <a:t>FS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6239" y="2926080"/>
            <a:ext cx="1371600" cy="914400"/>
          </a:xfrm>
          <a:prstGeom prst="roundRect">
            <a:avLst/>
          </a:prstGeom>
          <a:solidFill>
            <a:srgbClr val="FAEFDC"/>
          </a:solidFill>
          <a:ln w="19050">
            <a:solidFill>
              <a:srgbClr val="D89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946239" y="3063240"/>
            <a:ext cx="137160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1">
                <a:solidFill>
                  <a:srgbClr val="2E3342"/>
                </a:solidFill>
                <a:latin typeface="Calibri"/>
              </a:rP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6239" y="3474720"/>
            <a:ext cx="13716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0">
                <a:solidFill>
                  <a:srgbClr val="2E3342"/>
                </a:solidFill>
                <a:latin typeface="Calibri"/>
              </a:rPr>
              <a:t>Arsitektur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17839.5" y="3383280.0"/>
            <a:ext cx="164592.0" cy="0.0"/>
          </a:xfrm>
          <a:prstGeom prst="bentConnector3">
            <a:avLst/>
          </a:prstGeom>
          <a:ln w="19050">
            <a:solidFill>
              <a:srgbClr val="D896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17255" y="3063240"/>
            <a:ext cx="36576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1">
                <a:solidFill>
                  <a:srgbClr val="88590F"/>
                </a:solidFill>
                <a:latin typeface="Consolas"/>
              </a:rPr>
              <a:t>FS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82431" y="2926080"/>
            <a:ext cx="1371600" cy="914400"/>
          </a:xfrm>
          <a:prstGeom prst="roundRect">
            <a:avLst/>
          </a:prstGeom>
          <a:solidFill>
            <a:srgbClr val="FAEFDC"/>
          </a:solidFill>
          <a:ln w="19050">
            <a:solidFill>
              <a:srgbClr val="D89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82431" y="3063240"/>
            <a:ext cx="137160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1">
                <a:solidFill>
                  <a:srgbClr val="2E3342"/>
                </a:solidFill>
                <a:latin typeface="Calibri"/>
              </a:rPr>
              <a:t>F+G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2431" y="3474720"/>
            <a:ext cx="13716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0">
                <a:solidFill>
                  <a:srgbClr val="2E3342"/>
                </a:solidFill>
                <a:latin typeface="Calibri"/>
              </a:rPr>
              <a:t>Atap &amp; MEP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854031.5" y="3383280.0"/>
            <a:ext cx="164592.0" cy="0.0"/>
          </a:xfrm>
          <a:prstGeom prst="bentConnector3">
            <a:avLst/>
          </a:prstGeom>
          <a:ln w="19050">
            <a:solidFill>
              <a:srgbClr val="D896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753447" y="3063240"/>
            <a:ext cx="36576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1">
                <a:solidFill>
                  <a:srgbClr val="88590F"/>
                </a:solidFill>
                <a:latin typeface="Consolas"/>
              </a:rPr>
              <a:t>FS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8623" y="2926080"/>
            <a:ext cx="1371600" cy="914400"/>
          </a:xfrm>
          <a:prstGeom prst="roundRect">
            <a:avLst/>
          </a:prstGeom>
          <a:solidFill>
            <a:srgbClr val="FAEFDC"/>
          </a:solidFill>
          <a:ln w="19050">
            <a:solidFill>
              <a:srgbClr val="D89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018623" y="3063240"/>
            <a:ext cx="137160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800" b="1">
                <a:solidFill>
                  <a:srgbClr val="2E3342"/>
                </a:solidFill>
                <a:latin typeface="Calibri"/>
              </a:rPr>
              <a:t>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8623" y="3474720"/>
            <a:ext cx="1371600" cy="32004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0">
                <a:solidFill>
                  <a:srgbClr val="2E3342"/>
                </a:solidFill>
                <a:latin typeface="Calibri"/>
              </a:rPr>
              <a:t>Finishing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10047" y="2514600"/>
            <a:ext cx="1371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8F2E26"/>
                </a:solidFill>
                <a:latin typeface="Consolas"/>
              </a:rPr>
              <a:t>⚡ LINTASAN KRITIS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572000"/>
            <a:ext cx="10515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88590F"/>
                </a:solidFill>
                <a:latin typeface="Consolas"/>
              </a:rPr>
              <a:t>EMPAT TIPE HUBUNGAN: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937760"/>
            <a:ext cx="50292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35A6B"/>
                </a:solidFill>
                <a:latin typeface="Calibri"/>
              </a:rPr>
              <a:t>FS Finish-to-Start — paling umum, A selesai → B mulai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212080"/>
            <a:ext cx="50292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35A6B"/>
                </a:solidFill>
                <a:latin typeface="Calibri"/>
              </a:rPr>
              <a:t>SS Start-to-Start — A &amp; B mulai bersamaan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937760"/>
            <a:ext cx="50292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35A6B"/>
                </a:solidFill>
                <a:latin typeface="Calibri"/>
              </a:rPr>
              <a:t>FF Finish-to-Finish — A &amp; B selesai bersamaan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212080"/>
            <a:ext cx="50292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35A6B"/>
                </a:solidFill>
                <a:latin typeface="Calibri"/>
              </a:rPr>
              <a:t>SF Start-to-Finish — jarang dipakai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FA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88590F"/>
                </a:solidFill>
                <a:latin typeface="Consolas"/>
              </a:rPr>
              <a:t>PREDECESSOR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Lintasan kritis menentukan total durasi. Bila satu pekerjaan di lintasan kritis mundur, seluruh proyek mundur.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FA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88590F"/>
                </a:solidFill>
                <a:latin typeface="Consola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D89633"/>
                </a:solidFill>
                <a:latin typeface="Consolas"/>
              </a:rPr>
              <a:t>TAHAP 3 · JADWAL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10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Hasil Akhir: Bagan 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Sumbu X = minggu. Sumbu Y = pekerjaan. Panjang bar = durasi. Posisi bar = kapan dikerjakan.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65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99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67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01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69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3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05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07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5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70920" y="2194560"/>
            <a:ext cx="533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788091"/>
                </a:solidFill>
                <a:latin typeface="Consolas"/>
              </a:rPr>
              <a:t>W18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031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365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1699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033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2367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701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035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369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703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9037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371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705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5039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373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707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1041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6375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1709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704320.0" y="2468880"/>
            <a:ext cx="0.0" cy="3017520"/>
          </a:xfrm>
          <a:prstGeom prst="line">
            <a:avLst/>
          </a:prstGeom>
          <a:ln w="381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57200" y="2473452"/>
            <a:ext cx="15544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1">
                <a:solidFill>
                  <a:srgbClr val="2E3342"/>
                </a:solidFill>
                <a:latin typeface="Calibri"/>
              </a:rPr>
              <a:t>A · Persiapan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03120" y="2519172"/>
            <a:ext cx="1066800" cy="217932"/>
          </a:xfrm>
          <a:prstGeom prst="roundRect">
            <a:avLst/>
          </a:prstGeom>
          <a:solidFill>
            <a:srgbClr val="4A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2808732"/>
            <a:ext cx="15544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1">
                <a:solidFill>
                  <a:srgbClr val="2E3342"/>
                </a:solidFill>
                <a:latin typeface="Calibri"/>
              </a:rPr>
              <a:t>B · Tanah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36520" y="2854452"/>
            <a:ext cx="1600200" cy="217932"/>
          </a:xfrm>
          <a:prstGeom prst="roundRect">
            <a:avLst/>
          </a:prstGeom>
          <a:solidFill>
            <a:srgbClr val="42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57200" y="3144012"/>
            <a:ext cx="15544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1">
                <a:solidFill>
                  <a:srgbClr val="2E3342"/>
                </a:solidFill>
                <a:latin typeface="Calibri"/>
              </a:rPr>
              <a:t>C · Pondasi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69920" y="3189732"/>
            <a:ext cx="1066800" cy="217932"/>
          </a:xfrm>
          <a:prstGeom prst="roundRect">
            <a:avLst/>
          </a:prstGeom>
          <a:solidFill>
            <a:srgbClr val="D8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57200" y="3479292"/>
            <a:ext cx="15544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1">
                <a:solidFill>
                  <a:srgbClr val="2E3342"/>
                </a:solidFill>
                <a:latin typeface="Calibri"/>
              </a:rPr>
              <a:t>D · Struktur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03320" y="3525012"/>
            <a:ext cx="3200400" cy="217932"/>
          </a:xfrm>
          <a:prstGeom prst="roundRect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3814572"/>
            <a:ext cx="15544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1">
                <a:solidFill>
                  <a:srgbClr val="2E3342"/>
                </a:solidFill>
                <a:latin typeface="Calibri"/>
              </a:rPr>
              <a:t>E · Arsitektur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36920" y="3860292"/>
            <a:ext cx="4267200" cy="217932"/>
          </a:xfrm>
          <a:prstGeom prst="roundRect">
            <a:avLst/>
          </a:prstGeom>
          <a:solidFill>
            <a:srgbClr val="4F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57200" y="4149852"/>
            <a:ext cx="15544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1">
                <a:solidFill>
                  <a:srgbClr val="2E3342"/>
                </a:solidFill>
                <a:latin typeface="Calibri"/>
              </a:rPr>
              <a:t>F · Atap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70320" y="4195572"/>
            <a:ext cx="2133600" cy="217932"/>
          </a:xfrm>
          <a:prstGeom prst="roundRect">
            <a:avLst/>
          </a:prstGeom>
          <a:solidFill>
            <a:srgbClr val="7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57200" y="4485132"/>
            <a:ext cx="15544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1">
                <a:solidFill>
                  <a:srgbClr val="2E3342"/>
                </a:solidFill>
                <a:latin typeface="Calibri"/>
              </a:rPr>
              <a:t>G · MEP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03720" y="4530852"/>
            <a:ext cx="3733800" cy="217932"/>
          </a:xfrm>
          <a:prstGeom prst="roundRect">
            <a:avLst/>
          </a:prstGeom>
          <a:solidFill>
            <a:srgbClr val="4A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57200" y="4820412"/>
            <a:ext cx="15544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1">
                <a:solidFill>
                  <a:srgbClr val="2E3342"/>
                </a:solidFill>
                <a:latin typeface="Calibri"/>
              </a:rPr>
              <a:t>H · Finishing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37320" y="4866132"/>
            <a:ext cx="2667000" cy="217932"/>
          </a:xfrm>
          <a:prstGeom prst="roundRect">
            <a:avLst/>
          </a:prstGeom>
          <a:solidFill>
            <a:srgbClr val="D8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457200" y="5269992"/>
            <a:ext cx="15544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1">
                <a:solidFill>
                  <a:srgbClr val="2E3342"/>
                </a:solidFill>
                <a:latin typeface="Calibri"/>
              </a:rPr>
              <a:t>TOTAL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103120" y="5288280"/>
            <a:ext cx="9601200" cy="292608"/>
          </a:xfrm>
          <a:prstGeom prst="roundRect">
            <a:avLst/>
          </a:prstGeom>
          <a:solidFill>
            <a:srgbClr val="2E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2103120" y="5324856"/>
            <a:ext cx="96012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18 minggu (≈ 126 hari kalender)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FA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88590F"/>
                </a:solidFill>
                <a:latin typeface="Consolas"/>
              </a:rPr>
              <a:t>GANTT CHART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Warna bar = grup WBS. Bar tumpang tindih = pekerjaan paralel oleh regu berbeda.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FA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8F2E26"/>
                </a:solidFill>
                <a:latin typeface="Consola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C24F44"/>
                </a:solidFill>
                <a:latin typeface="Consolas"/>
              </a:rPr>
              <a:t>TAHAP 4 · KURVA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11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Langkah 1 — Hitung 'Bobot' Tiap Pekerjaan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Bobot = porsi biaya item terhadap total proyek. Total semua bobot = 100%.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500" b="1">
                <a:solidFill>
                  <a:srgbClr val="8F2E26"/>
                </a:solidFill>
                <a:latin typeface="Consolas"/>
              </a:rPr>
              <a:t>Bobot% = (Total item ÷ Total proyek) ×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442569" cy="548640"/>
          </a:xfrm>
          <a:prstGeom prst="rect">
            <a:avLst/>
          </a:prstGeom>
          <a:solidFill>
            <a:srgbClr val="4A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991209" y="2926080"/>
            <a:ext cx="663854" cy="548640"/>
          </a:xfrm>
          <a:prstGeom prst="rect">
            <a:avLst/>
          </a:prstGeom>
          <a:solidFill>
            <a:srgbClr val="42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1209" y="3072384"/>
            <a:ext cx="663854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55064" y="2926080"/>
            <a:ext cx="1548993" cy="548640"/>
          </a:xfrm>
          <a:prstGeom prst="rect">
            <a:avLst/>
          </a:prstGeom>
          <a:solidFill>
            <a:srgbClr val="D8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55064" y="3072384"/>
            <a:ext cx="1548993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14%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4057" y="2926080"/>
            <a:ext cx="3097987" cy="548640"/>
          </a:xfrm>
          <a:prstGeom prst="rect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204057" y="3072384"/>
            <a:ext cx="3097987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28%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2044" y="2926080"/>
            <a:ext cx="2434132" cy="548640"/>
          </a:xfrm>
          <a:prstGeom prst="rect">
            <a:avLst/>
          </a:prstGeom>
          <a:solidFill>
            <a:srgbClr val="4F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2044" y="3072384"/>
            <a:ext cx="2434132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22%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6177" y="2926080"/>
            <a:ext cx="885139" cy="548640"/>
          </a:xfrm>
          <a:prstGeom prst="rect">
            <a:avLst/>
          </a:prstGeom>
          <a:solidFill>
            <a:srgbClr val="7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736177" y="3072384"/>
            <a:ext cx="885139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21316" y="2926080"/>
            <a:ext cx="1106424" cy="548640"/>
          </a:xfrm>
          <a:prstGeom prst="rect">
            <a:avLst/>
          </a:prstGeom>
          <a:solidFill>
            <a:srgbClr val="4A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21316" y="3072384"/>
            <a:ext cx="1106424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27740" y="2926080"/>
            <a:ext cx="885139" cy="548640"/>
          </a:xfrm>
          <a:prstGeom prst="rect">
            <a:avLst/>
          </a:prstGeom>
          <a:solidFill>
            <a:srgbClr val="D8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727740" y="3072384"/>
            <a:ext cx="885139" cy="256032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77056"/>
            <a:ext cx="146304" cy="146304"/>
          </a:xfrm>
          <a:prstGeom prst="rect">
            <a:avLst/>
          </a:prstGeom>
          <a:solidFill>
            <a:srgbClr val="4A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9808" y="3840480"/>
            <a:ext cx="19202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A · Persiapan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840480"/>
            <a:ext cx="5486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877056"/>
            <a:ext cx="146304" cy="146304"/>
          </a:xfrm>
          <a:prstGeom prst="rect">
            <a:avLst/>
          </a:prstGeom>
          <a:solidFill>
            <a:srgbClr val="42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584448" y="3840480"/>
            <a:ext cx="19202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B · Tanah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840480"/>
            <a:ext cx="5486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77056"/>
            <a:ext cx="146304" cy="146304"/>
          </a:xfrm>
          <a:prstGeom prst="rect">
            <a:avLst/>
          </a:prstGeom>
          <a:solidFill>
            <a:srgbClr val="D8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19088" y="3840480"/>
            <a:ext cx="19202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C · Pondasi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840480"/>
            <a:ext cx="5486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14%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3877056"/>
            <a:ext cx="146304" cy="146304"/>
          </a:xfrm>
          <a:prstGeom prst="rect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53728" y="3840480"/>
            <a:ext cx="19202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D · Struktur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3840480"/>
            <a:ext cx="5486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28%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288536"/>
            <a:ext cx="146304" cy="146304"/>
          </a:xfrm>
          <a:prstGeom prst="rect">
            <a:avLst/>
          </a:prstGeom>
          <a:solidFill>
            <a:srgbClr val="4F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9808" y="4251960"/>
            <a:ext cx="19202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E · Arsitektur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251960"/>
            <a:ext cx="5486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22%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288536"/>
            <a:ext cx="146304" cy="146304"/>
          </a:xfrm>
          <a:prstGeom prst="rect">
            <a:avLst/>
          </a:prstGeom>
          <a:solidFill>
            <a:srgbClr val="7A6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584448" y="4251960"/>
            <a:ext cx="19202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F · Atap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51960"/>
            <a:ext cx="5486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288536"/>
            <a:ext cx="146304" cy="146304"/>
          </a:xfrm>
          <a:prstGeom prst="rect">
            <a:avLst/>
          </a:prstGeom>
          <a:solidFill>
            <a:srgbClr val="4A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19088" y="4251960"/>
            <a:ext cx="19202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G · MEP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251960"/>
            <a:ext cx="5486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10%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4288536"/>
            <a:ext cx="146304" cy="146304"/>
          </a:xfrm>
          <a:prstGeom prst="rect">
            <a:avLst/>
          </a:prstGeom>
          <a:solidFill>
            <a:srgbClr val="D8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253728" y="4251960"/>
            <a:ext cx="19202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2E3342"/>
                </a:solidFill>
                <a:latin typeface="Calibri"/>
              </a:rPr>
              <a:t>H · Finishing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4251960"/>
            <a:ext cx="5486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2E3342"/>
                </a:solidFill>
                <a:latin typeface="Consolas"/>
              </a:rPr>
              <a:t>8%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FA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8F2E26"/>
                </a:solidFill>
                <a:latin typeface="Consolas"/>
              </a:rPr>
              <a:t>BOBOT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Struktur (D) + Arsitektur (E) = 50% biaya proyek. Itu sebabnya keduanya jadi inti fase 'curam' kurva 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FA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8F2E26"/>
                </a:solidFill>
                <a:latin typeface="Consola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C24F44"/>
                </a:solidFill>
                <a:latin typeface="Consolas"/>
              </a:rPr>
              <a:t>TAHAP 4 · KURVA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12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Langkah 2 — Sebarkan Bobot ke Sepanjang Durasinya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Bobot 8,8% dengan durasi 6 minggu → 1,47% per minggu. Lakukan untuk semua item.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400" b="1">
                <a:solidFill>
                  <a:srgbClr val="8F2E26"/>
                </a:solidFill>
                <a:latin typeface="Consolas"/>
              </a:rPr>
              <a:t>Bobot / minggu = Bobot item ÷ Durasi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10642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8F2E26"/>
                </a:solidFill>
                <a:latin typeface="Consolas"/>
              </a:rPr>
              <a:t>CONTOH UNTUK D.1 BETON STRUKTUR: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3474720" cy="822960"/>
          </a:xfrm>
          <a:prstGeom prst="roundRect">
            <a:avLst/>
          </a:prstGeom>
          <a:solidFill>
            <a:srgbClr val="FAE3DF"/>
          </a:solidFill>
          <a:ln w="15240">
            <a:solidFill>
              <a:srgbClr val="C2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493008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8F2E26"/>
                </a:solidFill>
                <a:latin typeface="Consolas"/>
              </a:rPr>
              <a:t>BOBOT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347472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000" b="1">
                <a:solidFill>
                  <a:srgbClr val="2E3342"/>
                </a:solidFill>
                <a:latin typeface="Consolas"/>
              </a:rPr>
              <a:t>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3611880"/>
            <a:ext cx="36576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2200" b="1">
                <a:solidFill>
                  <a:srgbClr val="788091"/>
                </a:solidFill>
                <a:latin typeface="Consolas"/>
              </a:rPr>
              <a:t>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383280"/>
            <a:ext cx="3474720" cy="822960"/>
          </a:xfrm>
          <a:prstGeom prst="roundRect">
            <a:avLst/>
          </a:prstGeom>
          <a:solidFill>
            <a:srgbClr val="FAE3DF"/>
          </a:solidFill>
          <a:ln w="15240">
            <a:solidFill>
              <a:srgbClr val="C2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43400" y="3493008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8F2E26"/>
                </a:solidFill>
                <a:latin typeface="Consolas"/>
              </a:rPr>
              <a:t>DIBAGI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749040"/>
            <a:ext cx="347472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000" b="1">
                <a:solidFill>
                  <a:srgbClr val="2E3342"/>
                </a:solidFill>
                <a:latin typeface="Consolas"/>
              </a:rPr>
              <a:t>6 minggu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8" y="3611880"/>
            <a:ext cx="36576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2200" b="1">
                <a:solidFill>
                  <a:srgbClr val="788091"/>
                </a:solidFill>
                <a:latin typeface="Consolas"/>
              </a:rPr>
              <a:t>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383280"/>
            <a:ext cx="3474720" cy="822960"/>
          </a:xfrm>
          <a:prstGeom prst="roundRect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955280" y="3493008"/>
            <a:ext cx="347472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FAE3DF"/>
                </a:solidFill>
                <a:latin typeface="Consolas"/>
              </a:rPr>
              <a:t>PER MINGGU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3749040"/>
            <a:ext cx="3474720" cy="4114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nsolas"/>
              </a:rPr>
              <a:t>≈ 4,7 %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106424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8F2E26"/>
                </a:solidFill>
                <a:latin typeface="Consolas"/>
              </a:rPr>
              <a:t>JADINYA, MINGGU 4-9 (6 KOLOM) MASING-MASING DAPAT 4,7%: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114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40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66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92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18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44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0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96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48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74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26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52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78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04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3000" y="4709160"/>
            <a:ext cx="48260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" b="0">
                <a:solidFill>
                  <a:srgbClr val="A8AEBA"/>
                </a:solidFill>
                <a:latin typeface="Consolas"/>
              </a:rPr>
              <a:t>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8288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114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3114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940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27940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76600" y="4937760"/>
            <a:ext cx="482600" cy="457200"/>
          </a:xfrm>
          <a:prstGeom prst="rect">
            <a:avLst/>
          </a:prstGeom>
          <a:solidFill>
            <a:srgbClr val="C24F44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2766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4,7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59200" y="4937760"/>
            <a:ext cx="482600" cy="457200"/>
          </a:xfrm>
          <a:prstGeom prst="rect">
            <a:avLst/>
          </a:prstGeom>
          <a:solidFill>
            <a:srgbClr val="C24F44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7592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4,7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41800" y="4937760"/>
            <a:ext cx="482600" cy="457200"/>
          </a:xfrm>
          <a:prstGeom prst="rect">
            <a:avLst/>
          </a:prstGeom>
          <a:solidFill>
            <a:srgbClr val="C24F44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2418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4,7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24400" y="4937760"/>
            <a:ext cx="482600" cy="457200"/>
          </a:xfrm>
          <a:prstGeom prst="rect">
            <a:avLst/>
          </a:prstGeom>
          <a:solidFill>
            <a:srgbClr val="C24F44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7244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4,7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07000" y="4937760"/>
            <a:ext cx="482600" cy="457200"/>
          </a:xfrm>
          <a:prstGeom prst="rect">
            <a:avLst/>
          </a:prstGeom>
          <a:solidFill>
            <a:srgbClr val="C24F44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2070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4,7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89600" y="4937760"/>
            <a:ext cx="482600" cy="457200"/>
          </a:xfrm>
          <a:prstGeom prst="rect">
            <a:avLst/>
          </a:prstGeom>
          <a:solidFill>
            <a:srgbClr val="C24F44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6896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4,7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1722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548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6548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74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1374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200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6200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26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1026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852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5852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678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0678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504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5504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33000" y="4937760"/>
            <a:ext cx="482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033000" y="5047488"/>
            <a:ext cx="4826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A8AEBA"/>
                </a:solidFill>
                <a:latin typeface="Consolas"/>
              </a:rPr>
              <a:t>·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5029200"/>
            <a:ext cx="12801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100" b="1">
                <a:solidFill>
                  <a:srgbClr val="8F2E26"/>
                </a:solidFill>
                <a:latin typeface="Calibri"/>
              </a:rPr>
              <a:t>D.1 Beton: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FA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8F2E26"/>
                </a:solidFill>
                <a:latin typeface="Consolas"/>
              </a:rPr>
              <a:t>DISTRIBUSI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Ulangi untuk semua item. Jumlah satu kolom (semua item aktif di minggu itu) = 'Rencana/Minggu'.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FA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8F2E26"/>
                </a:solidFill>
                <a:latin typeface="Consola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C24F44"/>
                </a:solidFill>
                <a:latin typeface="Consolas"/>
              </a:rPr>
              <a:t>TAHAP 4 · KURVA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13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Langkah 3 — Akumulasi: Inilah Kurva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Jumlahkan 'Rencana per Minggu' dari minggu 1 → seterusnya. Hasilnya membentuk huruf 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5577840.0"/>
            <a:ext cx="9601200" cy="0.0"/>
          </a:xfrm>
          <a:prstGeom prst="line">
            <a:avLst/>
          </a:prstGeom>
          <a:ln w="12700">
            <a:solidFill>
              <a:srgbClr val="2E3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5458968"/>
            <a:ext cx="36576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900" b="0">
                <a:solidFill>
                  <a:srgbClr val="788091"/>
                </a:solidFill>
                <a:latin typeface="Consolas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4800600.0"/>
            <a:ext cx="9601200" cy="0.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681728"/>
            <a:ext cx="36576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900" b="0">
                <a:solidFill>
                  <a:srgbClr val="788091"/>
                </a:solidFill>
                <a:latin typeface="Consolas"/>
              </a:rPr>
              <a:t>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0" y="4023360.0"/>
            <a:ext cx="9601200" cy="0.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904488"/>
            <a:ext cx="36576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900" b="0">
                <a:solidFill>
                  <a:srgbClr val="788091"/>
                </a:solidFill>
                <a:latin typeface="Consolas"/>
              </a:rPr>
              <a:t>50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3246120.0"/>
            <a:ext cx="9601200" cy="0.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127248"/>
            <a:ext cx="36576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900" b="0">
                <a:solidFill>
                  <a:srgbClr val="788091"/>
                </a:solidFill>
                <a:latin typeface="Consolas"/>
              </a:rPr>
              <a:t>75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2468880.0"/>
            <a:ext cx="9601200" cy="0.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2350008"/>
            <a:ext cx="36576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900" b="0">
                <a:solidFill>
                  <a:srgbClr val="788091"/>
                </a:solidFill>
                <a:latin typeface="Consolas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9216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63992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8769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545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8322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3098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7875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52651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7428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2204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6981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1757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6534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1310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6087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70863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5623560"/>
            <a:ext cx="274320" cy="1828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788091"/>
                </a:solidFill>
                <a:latin typeface="Consolas"/>
              </a:rPr>
              <a:t>18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371600.0" y="5391302.4"/>
            <a:ext cx="564776.4705882352" cy="124358.39999999944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936376.4705882352" y="5111496.0"/>
            <a:ext cx="564776.4705882352" cy="279806.4000000004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501152.9411764704" y="4685568.48"/>
            <a:ext cx="564776.4705882357" cy="425927.51999999955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65929.411764706" y="4539447.36"/>
            <a:ext cx="564776.4705882352" cy="146121.1200000001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630705.882352941" y="4393326.24"/>
            <a:ext cx="564776.4705882347" cy="146121.1200000001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95482.352941176" y="4247205.12"/>
            <a:ext cx="564776.4705882361" cy="146121.1200000001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760258.823529412" y="4014033.12"/>
            <a:ext cx="564776.4705882352" cy="233172.0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325035.294117647" y="3718681.92"/>
            <a:ext cx="564776.4705882352" cy="295351.2000000002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889811.764705882" y="3569451.8400000003"/>
            <a:ext cx="564776.4705882352" cy="149230.0799999996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454588.235294118" y="3420221.76"/>
            <a:ext cx="564776.4705882352" cy="149230.08000000054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019364.705882353" y="3270991.68"/>
            <a:ext cx="564776.4705882352" cy="149230.0799999996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584141.176470588" y="3183940.8"/>
            <a:ext cx="564776.4705882361" cy="87050.88000000035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148917.647058824" y="3047146.5599999996"/>
            <a:ext cx="564776.4705882352" cy="136794.24000000022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713694.11764706" y="2910352.32"/>
            <a:ext cx="564776.4705882352" cy="136794.23999999976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278470.588235294" y="2860608.96"/>
            <a:ext cx="564776.4705882352" cy="49743.35999999987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843247.05882353" y="2810865.6"/>
            <a:ext cx="564776.4705882352" cy="49743.35999999987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0408023.529411765" y="2468880.0"/>
            <a:ext cx="564776.4705882352" cy="341985.6000000001"/>
          </a:xfrm>
          <a:prstGeom prst="line">
            <a:avLst/>
          </a:prstGeom>
          <a:ln w="31750">
            <a:solidFill>
              <a:srgbClr val="C2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325880" y="5469940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90656" y="5345582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455432" y="5065776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020209" y="4639848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84985" y="4493727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149762" y="4347606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714538" y="4201485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279315" y="3968313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844091" y="3672961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08868" y="3523731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73644" y="3374501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538421" y="3225271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103197" y="3138220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667974" y="3001426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2750" y="2864632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797527" y="2814888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362303" y="2765145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927080" y="2423160"/>
            <a:ext cx="91440" cy="91440"/>
          </a:xfrm>
          <a:prstGeom prst="ellipse">
            <a:avLst/>
          </a:prstGeom>
          <a:solidFill>
            <a:srgbClr val="C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71600" y="5989320"/>
            <a:ext cx="27432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788091"/>
                </a:solidFill>
                <a:latin typeface="Calibri"/>
              </a:rPr>
              <a:t>FASE 1 (landai)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71600" y="6217920"/>
            <a:ext cx="27432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A8AEBA"/>
                </a:solidFill>
                <a:latin typeface="Consolas"/>
              </a:rPr>
              <a:t>Persiapan + Galian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0" y="5989320"/>
            <a:ext cx="32004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8F2E26"/>
                </a:solidFill>
                <a:latin typeface="Calibri"/>
              </a:rPr>
              <a:t>FASE 2 (curam — kurva S!)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0" y="6217920"/>
            <a:ext cx="32004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A8AEBA"/>
                </a:solidFill>
                <a:latin typeface="Consolas"/>
              </a:rPr>
              <a:t>Pondasi + Struktur + Arsitektur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5989320"/>
            <a:ext cx="27432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788091"/>
                </a:solidFill>
                <a:latin typeface="Calibri"/>
              </a:rPr>
              <a:t>FASE 3 (landai)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6217920"/>
            <a:ext cx="2743200" cy="22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0">
                <a:solidFill>
                  <a:srgbClr val="A8AEBA"/>
                </a:solidFill>
                <a:latin typeface="Consolas"/>
              </a:rPr>
              <a:t>Finishing + Cleanup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3840480"/>
            <a:ext cx="73152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900" b="1">
                <a:solidFill>
                  <a:srgbClr val="8F2E26"/>
                </a:solidFill>
                <a:latin typeface="Consolas"/>
              </a:rPr>
              <a:t>PROGRES
KUMULATIF (%)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FA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8F2E26"/>
                </a:solidFill>
                <a:latin typeface="Consolas"/>
              </a:rPr>
              <a:t>KURVA 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Tiga fase (landai → curam → landai) memberi bentuk huruf S. Kurva ini jadi baseline progres.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274320"/>
          </a:xfrm>
          <a:prstGeom prst="roundRect">
            <a:avLst/>
          </a:prstGeom>
          <a:solidFill>
            <a:srgbClr val="E4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2E7042"/>
                </a:solidFill>
                <a:latin typeface="Consola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41148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4FA165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82296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A8AEBA"/>
                </a:solidFill>
                <a:latin typeface="Consolas"/>
              </a:rPr>
              <a:t>14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502920"/>
            <a:ext cx="54864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2E3342"/>
                </a:solidFill>
                <a:latin typeface="Calibri"/>
              </a:rPr>
              <a:t>Semua Saling Berkaitan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788091"/>
                </a:solidFill>
                <a:latin typeface="Calibri"/>
              </a:rPr>
              <a:t>Ubah satu tahap, semua hilirnya ikut berubah. Itulah kekuatan 5D BIM.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3200400"/>
            <a:ext cx="2286000" cy="1280160"/>
          </a:xfrm>
          <a:prstGeom prst="roundRect">
            <a:avLst/>
          </a:prstGeom>
          <a:solidFill>
            <a:srgbClr val="4F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937760" y="3383280"/>
            <a:ext cx="22860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1">
                <a:solidFill>
                  <a:srgbClr val="E4F1E7"/>
                </a:solidFill>
                <a:latin typeface="Consolas"/>
              </a:rPr>
              <a:t>MODEL 3D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703320"/>
            <a:ext cx="22860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Revit BIM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926080" cy="1005840"/>
          </a:xfrm>
          <a:prstGeom prst="roundRect">
            <a:avLst/>
          </a:prstGeom>
          <a:solidFill>
            <a:srgbClr val="E3EAF8"/>
          </a:solidFill>
          <a:ln w="19050">
            <a:solidFill>
              <a:srgbClr val="4A6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29260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2E4EA4"/>
                </a:solidFill>
                <a:latin typeface="Consolas"/>
              </a:rPr>
              <a:t>TAHAP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292608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E3342"/>
                </a:solidFill>
                <a:latin typeface="Calibri"/>
              </a:rPr>
              <a:t>Harga Satuan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42032"/>
            <a:ext cx="29260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900" b="0">
                <a:solidFill>
                  <a:srgbClr val="788091"/>
                </a:solidFill>
                <a:latin typeface="Consolas"/>
              </a:rPr>
              <a:t>Σ koefisien × harga + OHP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0" y="2331720.0"/>
            <a:ext cx="1463040.0" cy="1508760.0"/>
          </a:xfrm>
          <a:prstGeom prst="bentConnector3">
            <a:avLst/>
          </a:prstGeom>
          <a:ln w="19050">
            <a:solidFill>
              <a:srgbClr val="4FA16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0" y="1828800"/>
            <a:ext cx="2926080" cy="1005840"/>
          </a:xfrm>
          <a:prstGeom prst="roundRect">
            <a:avLst/>
          </a:prstGeom>
          <a:solidFill>
            <a:srgbClr val="E0F2F5"/>
          </a:solidFill>
          <a:ln w="19050">
            <a:solidFill>
              <a:srgbClr val="429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0" y="1938528"/>
            <a:ext cx="29260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2A6E7C"/>
                </a:solidFill>
                <a:latin typeface="Consolas"/>
              </a:rPr>
              <a:t>TAHAP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94560"/>
            <a:ext cx="292608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E3342"/>
                </a:solidFill>
                <a:latin typeface="Calibri"/>
              </a:rPr>
              <a:t>RAB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542032"/>
            <a:ext cx="29260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900" b="0">
                <a:solidFill>
                  <a:srgbClr val="788091"/>
                </a:solidFill>
                <a:latin typeface="Consolas"/>
              </a:rPr>
              <a:t>Volume × Harga + Markup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223760.0" y="2331720.0"/>
            <a:ext cx="1463040.0" cy="1508760.0"/>
          </a:xfrm>
          <a:prstGeom prst="bentConnector3">
            <a:avLst/>
          </a:prstGeom>
          <a:ln w="19050">
            <a:solidFill>
              <a:srgbClr val="4FA16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5029200"/>
            <a:ext cx="2926080" cy="1005840"/>
          </a:xfrm>
          <a:prstGeom prst="roundRect">
            <a:avLst/>
          </a:prstGeom>
          <a:solidFill>
            <a:srgbClr val="FAEFDC"/>
          </a:solidFill>
          <a:ln w="19050">
            <a:solidFill>
              <a:srgbClr val="D89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5138928"/>
            <a:ext cx="29260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88590F"/>
                </a:solidFill>
                <a:latin typeface="Consolas"/>
              </a:rPr>
              <a:t>TAHAP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292608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E3342"/>
                </a:solidFill>
                <a:latin typeface="Calibri"/>
              </a:rPr>
              <a:t>Jadwal · Gantt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42432"/>
            <a:ext cx="29260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900" b="0">
                <a:solidFill>
                  <a:srgbClr val="788091"/>
                </a:solidFill>
                <a:latin typeface="Consolas"/>
              </a:rPr>
              <a:t>Volume ÷ Produktivitas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474720" y="3840480.0"/>
            <a:ext cx="1463040.0" cy="1691640.0"/>
          </a:xfrm>
          <a:prstGeom prst="bentConnector3">
            <a:avLst/>
          </a:prstGeom>
          <a:ln w="19050">
            <a:solidFill>
              <a:srgbClr val="4FA16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86800" y="5029200"/>
            <a:ext cx="2926080" cy="1005840"/>
          </a:xfrm>
          <a:prstGeom prst="roundRect">
            <a:avLst/>
          </a:prstGeom>
          <a:solidFill>
            <a:srgbClr val="FAE3DF"/>
          </a:solidFill>
          <a:ln w="19050">
            <a:solidFill>
              <a:srgbClr val="C2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869680" y="5138928"/>
            <a:ext cx="29260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1">
                <a:solidFill>
                  <a:srgbClr val="8F2E26"/>
                </a:solidFill>
                <a:latin typeface="Consolas"/>
              </a:rPr>
              <a:t>TAHAP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394960"/>
            <a:ext cx="2926080" cy="36576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E3342"/>
                </a:solidFill>
                <a:latin typeface="Calibri"/>
              </a:rPr>
              <a:t>Kurva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742432"/>
            <a:ext cx="292608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900" b="0">
                <a:solidFill>
                  <a:srgbClr val="788091"/>
                </a:solidFill>
                <a:latin typeface="Consolas"/>
              </a:rPr>
              <a:t>Σ bobot/minggu kumulatif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7223760.0" y="3840480.0"/>
            <a:ext cx="1463040.0" cy="1691640.0"/>
          </a:xfrm>
          <a:prstGeom prst="bentConnector3">
            <a:avLst/>
          </a:prstGeom>
          <a:ln w="19050">
            <a:solidFill>
              <a:srgbClr val="4FA16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937760" y="4572000"/>
            <a:ext cx="2286000" cy="2743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000" b="0">
                <a:solidFill>
                  <a:srgbClr val="788091"/>
                </a:solidFill>
                <a:latin typeface="Calibri"/>
              </a:rPr>
              <a:t>satu model, empat output, satu kebenaran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12648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57200" y="6263640"/>
            <a:ext cx="914400" cy="292608"/>
          </a:xfrm>
          <a:prstGeom prst="roundRect">
            <a:avLst/>
          </a:prstGeom>
          <a:solidFill>
            <a:srgbClr val="E4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00" b="1">
                <a:solidFill>
                  <a:srgbClr val="2E7042"/>
                </a:solidFill>
                <a:latin typeface="Consolas"/>
              </a:rPr>
              <a:t>PENUTUP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6236208"/>
            <a:ext cx="10515600" cy="50292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535A6B"/>
                </a:solidFill>
                <a:latin typeface="Calibri"/>
              </a:rPr>
              <a:t>Itulah inti 5D BIM Construction Management: model 3D adalah jantung; setiap perubahan menjalar otomatis. Terima kasih.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